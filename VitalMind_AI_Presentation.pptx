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301"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uryendudas/VitalMind-AI"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vital-mind-ai.vercel.app/"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dirty="0"/>
              <a:t>IBM University Engagement Project Submission</a:t>
            </a:r>
            <a:br>
              <a:rPr lang="en-US" b="1" dirty="0"/>
            </a:br>
            <a:endParaRPr dirty="0"/>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dirty="0"/>
              <a:t>“Exploring the Power of Agentic AI with IBM Granite”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841203529"/>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Suryendu Das</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suryendudas6@gmail.com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7605831782</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 Healthcare</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830956"/>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Project Tile – </a:t>
            </a:r>
            <a:r>
              <a:rPr lang="en-US" sz="1650" b="1" dirty="0" err="1">
                <a:highlight>
                  <a:srgbClr val="FFFF00"/>
                </a:highlight>
              </a:rPr>
              <a:t>VitalMind</a:t>
            </a:r>
            <a:r>
              <a:rPr lang="en-US" sz="1650" b="1" dirty="0">
                <a:highlight>
                  <a:srgbClr val="FFFF00"/>
                </a:highlight>
              </a:rPr>
              <a:t> AI:  An AI-Powered Fitness &amp; Wellness Buddy using IBM Granite</a:t>
            </a:r>
          </a:p>
          <a:p>
            <a:pPr marL="0" marR="0" lvl="0" indent="0" algn="l" rtl="0">
              <a:lnSpc>
                <a:spcPct val="100000"/>
              </a:lnSpc>
              <a:spcBef>
                <a:spcPts val="0"/>
              </a:spcBef>
              <a:spcAft>
                <a:spcPts val="0"/>
              </a:spcAft>
              <a:buNone/>
            </a:pP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A5ED07CB-EEA7-0912-0C4F-4AFEC9C26253}"/>
              </a:ext>
            </a:extLst>
          </p:cNvPr>
          <p:cNvPicPr>
            <a:picLocks noChangeAspect="1"/>
          </p:cNvPicPr>
          <p:nvPr/>
        </p:nvPicPr>
        <p:blipFill>
          <a:blip r:embed="rId3"/>
          <a:stretch>
            <a:fillRect/>
          </a:stretch>
        </p:blipFill>
        <p:spPr>
          <a:xfrm>
            <a:off x="4110357" y="3680446"/>
            <a:ext cx="835269" cy="10869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5047495"/>
          </a:xfrm>
          <a:prstGeom prst="rect">
            <a:avLst/>
          </a:prstGeom>
          <a:noFill/>
          <a:ln>
            <a:noFill/>
          </a:ln>
        </p:spPr>
        <p:txBody>
          <a:bodyPr spcFirstLastPara="1" wrap="square" lIns="91425" tIns="45700" rIns="91425" bIns="45700" anchor="t" anchorCtr="0">
            <a:spAutoFit/>
          </a:bodyPr>
          <a:lstStyle/>
          <a:p>
            <a:pPr lvl="0"/>
            <a:r>
              <a:rPr lang="en-US" sz="1400" b="1" i="0" u="none" strike="noStrike" cap="none" dirty="0">
                <a:solidFill>
                  <a:srgbClr val="000000"/>
                </a:solidFill>
                <a:latin typeface="Arial"/>
                <a:ea typeface="Arial"/>
                <a:cs typeface="Arial"/>
                <a:sym typeface="Arial"/>
              </a:rPr>
              <a:t>Problem Statement : </a:t>
            </a:r>
            <a:r>
              <a:rPr lang="en-US" dirty="0"/>
              <a:t>No. 13 – Fitness Buddy</a:t>
            </a:r>
            <a:endParaRPr dirty="0"/>
          </a:p>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endParaRPr dirty="0"/>
          </a:p>
          <a:p>
            <a:pPr lvl="0"/>
            <a:r>
              <a:rPr lang="en-US" dirty="0"/>
              <a:t>In this modern world, many individuals struggle to maintain their physical well-being due to busy schedules, lack of personalized </a:t>
            </a:r>
            <a:r>
              <a:rPr lang="en-US" dirty="0" err="1"/>
              <a:t>guidance.Yes</a:t>
            </a:r>
            <a:r>
              <a:rPr lang="en-US" dirty="0"/>
              <a:t> </a:t>
            </a:r>
            <a:r>
              <a:rPr lang="en-US" dirty="0" err="1"/>
              <a:t>nowdays</a:t>
            </a:r>
            <a:r>
              <a:rPr lang="en-US" dirty="0"/>
              <a:t> we have very advance health tracker wearables which can monitor and collect our health data, including sleep patterns, heart rate, HRV, and daily activity, very </a:t>
            </a:r>
            <a:r>
              <a:rPr lang="en-US" dirty="0" err="1"/>
              <a:t>accurately.But</a:t>
            </a:r>
            <a:r>
              <a:rPr lang="en-US" dirty="0"/>
              <a:t> it’s very hard for common non-professional people like us to understand those very complicated health details and take decisions depending on that.</a:t>
            </a:r>
          </a:p>
          <a:p>
            <a:r>
              <a:rPr lang="en-US" b="1" dirty="0"/>
              <a:t>The Objective</a:t>
            </a:r>
          </a:p>
          <a:p>
            <a:r>
              <a:rPr lang="en-US" dirty="0"/>
              <a:t>Build an </a:t>
            </a:r>
            <a:r>
              <a:rPr lang="en-US" b="1" dirty="0"/>
              <a:t>AI-powered Fitness &amp; Wellness Buddy</a:t>
            </a:r>
            <a:r>
              <a:rPr lang="en-US" dirty="0"/>
              <a:t> that delivers </a:t>
            </a:r>
            <a:r>
              <a:rPr lang="en-US" b="1" dirty="0"/>
              <a:t>personalized wellness insights and health recommendations</a:t>
            </a:r>
            <a:r>
              <a:rPr lang="en-US" dirty="0"/>
              <a:t> using wearable health data. The solution should:</a:t>
            </a:r>
          </a:p>
          <a:p>
            <a:r>
              <a:rPr lang="en-US" b="1" dirty="0"/>
              <a:t>Wearable Health Data Analysis</a:t>
            </a:r>
            <a:r>
              <a:rPr lang="en-US" dirty="0"/>
              <a:t> – Analyzed health data from smartwatch e.g. sleep duration, heart rate, heart rate variability (HRV) and daily step count from uploaded CSV data. </a:t>
            </a:r>
          </a:p>
          <a:p>
            <a:r>
              <a:rPr lang="en-US" b="1" dirty="0"/>
              <a:t>Wellness &amp; Recovery Assessment</a:t>
            </a:r>
            <a:r>
              <a:rPr lang="en-US" dirty="0"/>
              <a:t> – Calculate Wellness Score and Recovery Score which makes users understand their overall health condition. </a:t>
            </a:r>
          </a:p>
          <a:p>
            <a:r>
              <a:rPr lang="en-US" b="1" dirty="0"/>
              <a:t>AI-Powered Personalized Recommendations</a:t>
            </a:r>
            <a:r>
              <a:rPr lang="en-US" dirty="0"/>
              <a:t> – Generate tailored wellness recommendations using user health data and trends, powered by IBM Granite on IBM watsonx.ai. </a:t>
            </a:r>
          </a:p>
          <a:p>
            <a:r>
              <a:rPr lang="en-US" b="1" dirty="0"/>
              <a:t>Health Trend Analysis</a:t>
            </a:r>
            <a:r>
              <a:rPr lang="en-US" dirty="0"/>
              <a:t> – Look for patterns in your sleep quality, heart rate, HRV, and physical activity, so you can maintain and encourage healthy choices.</a:t>
            </a:r>
          </a:p>
          <a:p>
            <a:r>
              <a:rPr lang="en-US" b="1" dirty="0"/>
              <a:t>Preventive Wellness Focus</a:t>
            </a:r>
            <a:r>
              <a:rPr lang="en-US" dirty="0"/>
              <a:t> – Promote healthy habits through actionable recommendations while avoiding medical diagnosis and encouraging preventive healthcare. </a:t>
            </a:r>
          </a:p>
          <a:p>
            <a:r>
              <a:rPr lang="en-US" b="1" dirty="0"/>
              <a:t>Interactive Dashboard</a:t>
            </a:r>
            <a:r>
              <a:rPr lang="en-US" dirty="0"/>
              <a:t> – Deliver health statistics, wellness scores, trend analysis, and AI suggestions via a user-friendly web interface</a:t>
            </a: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4832052"/>
          </a:xfrm>
          <a:prstGeom prst="rect">
            <a:avLst/>
          </a:prstGeom>
          <a:noFill/>
          <a:ln>
            <a:noFill/>
          </a:ln>
        </p:spPr>
        <p:txBody>
          <a:bodyPr spcFirstLastPara="1" wrap="square" lIns="91425" tIns="45700" rIns="91425" bIns="45700" anchor="t" anchorCtr="0">
            <a:spAutoFit/>
          </a:bodyPr>
          <a:lstStyle/>
          <a:p>
            <a:r>
              <a:rPr lang="en-US" b="1" dirty="0"/>
              <a:t>Proposed Solution: </a:t>
            </a:r>
            <a:r>
              <a:rPr lang="en-US" b="1" dirty="0" err="1"/>
              <a:t>VitalMind</a:t>
            </a:r>
            <a:r>
              <a:rPr lang="en-US" b="1" dirty="0"/>
              <a:t> AI – AI-Powered Fitness &amp; Wellness Buddy</a:t>
            </a:r>
          </a:p>
          <a:p>
            <a:r>
              <a:rPr lang="en-US" dirty="0"/>
              <a:t>The proposed solution is </a:t>
            </a:r>
            <a:r>
              <a:rPr lang="en-US" b="1" dirty="0" err="1"/>
              <a:t>VitalMind</a:t>
            </a:r>
            <a:r>
              <a:rPr lang="en-US" b="1" dirty="0"/>
              <a:t> AI</a:t>
            </a:r>
            <a:r>
              <a:rPr lang="en-US" dirty="0"/>
              <a:t>, an AI-powered Fitness &amp; Wellness Buddy developed using </a:t>
            </a:r>
            <a:r>
              <a:rPr lang="en-US" b="1" dirty="0"/>
              <a:t>React</a:t>
            </a:r>
            <a:r>
              <a:rPr lang="en-US" dirty="0"/>
              <a:t>, </a:t>
            </a:r>
            <a:r>
              <a:rPr lang="en-US" b="1" dirty="0" err="1"/>
              <a:t>FastAPI</a:t>
            </a:r>
            <a:r>
              <a:rPr lang="en-US" dirty="0"/>
              <a:t>, </a:t>
            </a:r>
            <a:r>
              <a:rPr lang="en-US" b="1" dirty="0"/>
              <a:t>IBM watsonx.ai</a:t>
            </a:r>
            <a:r>
              <a:rPr lang="en-US" dirty="0"/>
              <a:t>, and the </a:t>
            </a:r>
            <a:r>
              <a:rPr lang="en-US" b="1" dirty="0"/>
              <a:t>IBM Granite Foundation Model</a:t>
            </a:r>
            <a:r>
              <a:rPr lang="en-US" dirty="0"/>
              <a:t> to provide personalized wellness insights from wearable health data. The system addresses the challenge of interpreting complex health metrics by converting smartwatch data into simple, actionable recommendations through an intelligent and user-friendly architecture.</a:t>
            </a:r>
          </a:p>
          <a:p>
            <a:r>
              <a:rPr lang="en-US" dirty="0"/>
              <a:t>At its core, the solution allows users to upload wearable health data in </a:t>
            </a:r>
            <a:r>
              <a:rPr lang="en-US" b="1" dirty="0"/>
              <a:t>CSV format</a:t>
            </a:r>
            <a:r>
              <a:rPr lang="en-US" dirty="0"/>
              <a:t>. The backend processes the uploaded data to calculate important wellness indicators such as </a:t>
            </a:r>
            <a:r>
              <a:rPr lang="en-US" b="1" dirty="0"/>
              <a:t>Wellness Score</a:t>
            </a:r>
            <a:r>
              <a:rPr lang="en-US" dirty="0"/>
              <a:t>, </a:t>
            </a:r>
            <a:r>
              <a:rPr lang="en-US" b="1" dirty="0"/>
              <a:t>Recovery Score</a:t>
            </a:r>
            <a:r>
              <a:rPr lang="en-US" dirty="0"/>
              <a:t>, average sleep duration, heart rate variability (HRV), resting heart rate, and daily step count. It also identifies health trends that help users better understand their overall well-being.</a:t>
            </a:r>
          </a:p>
          <a:p>
            <a:r>
              <a:rPr lang="en-US" dirty="0"/>
              <a:t>The system consists of three major components:</a:t>
            </a:r>
          </a:p>
          <a:p>
            <a:r>
              <a:rPr lang="en-US" b="1" dirty="0"/>
              <a:t>Health Data Analysis Engine</a:t>
            </a:r>
            <a:r>
              <a:rPr lang="en-US" dirty="0"/>
              <a:t> – Processes wearable health data, calculates wellness metrics, and identifies health trends using Python and Pandas.</a:t>
            </a:r>
          </a:p>
          <a:p>
            <a:r>
              <a:rPr lang="en-US" b="1" dirty="0"/>
              <a:t>AI Wellness Recommendation Engine</a:t>
            </a:r>
            <a:r>
              <a:rPr lang="en-US" dirty="0"/>
              <a:t> – Utilizes </a:t>
            </a:r>
            <a:r>
              <a:rPr lang="en-US" b="1" dirty="0"/>
              <a:t>IBM Granite</a:t>
            </a:r>
            <a:r>
              <a:rPr lang="en-US" dirty="0"/>
              <a:t> on </a:t>
            </a:r>
            <a:r>
              <a:rPr lang="en-US" b="1" dirty="0"/>
              <a:t>IBM watsonx.ai</a:t>
            </a:r>
            <a:r>
              <a:rPr lang="en-US" dirty="0"/>
              <a:t> to analyze the processed health summary and generate personalized wellness recommendations focused on improving sleep, recovery, physical activity, and overall healthy habits.</a:t>
            </a:r>
          </a:p>
          <a:p>
            <a:r>
              <a:rPr lang="en-US" b="1" dirty="0"/>
              <a:t>Interactive Dashboard</a:t>
            </a:r>
            <a:r>
              <a:rPr lang="en-US" dirty="0"/>
              <a:t> – Built using </a:t>
            </a:r>
            <a:r>
              <a:rPr lang="en-US" b="1" dirty="0"/>
              <a:t>React</a:t>
            </a:r>
            <a:r>
              <a:rPr lang="en-US" dirty="0"/>
              <a:t>, the dashboard presents wellness scores, health metrics, trend analysis, and AI-generated recommendations through a clean and intuitive interface.</a:t>
            </a:r>
          </a:p>
          <a:p>
            <a:r>
              <a:rPr lang="en-US" dirty="0"/>
              <a:t>The solution follows a modular architecture where the </a:t>
            </a:r>
            <a:r>
              <a:rPr lang="en-US" b="1" dirty="0" err="1"/>
              <a:t>FastAPI</a:t>
            </a:r>
            <a:r>
              <a:rPr lang="en-US" b="1" dirty="0"/>
              <a:t> backend</a:t>
            </a:r>
            <a:r>
              <a:rPr lang="en-US" dirty="0"/>
              <a:t> performs data processing and AI integration, while the </a:t>
            </a:r>
            <a:r>
              <a:rPr lang="en-US" b="1" dirty="0"/>
              <a:t>React frontend</a:t>
            </a:r>
            <a:r>
              <a:rPr lang="en-US" dirty="0"/>
              <a:t> provides a responsive user experience. IBM </a:t>
            </a:r>
            <a:r>
              <a:rPr lang="en-US" b="1" dirty="0"/>
              <a:t>watsonx.ai</a:t>
            </a:r>
            <a:r>
              <a:rPr lang="en-US" dirty="0"/>
              <a:t> enables secure access to the Granite Foundation Model, which powers natural language reasoning and personalized wellness guidance.</a:t>
            </a:r>
          </a:p>
          <a:p>
            <a:r>
              <a:rPr lang="en-US" dirty="0"/>
              <a:t>Overall, </a:t>
            </a:r>
            <a:r>
              <a:rPr lang="en-US" b="1" dirty="0" err="1"/>
              <a:t>VitalMind</a:t>
            </a:r>
            <a:r>
              <a:rPr lang="en-US" b="1" dirty="0"/>
              <a:t> AI</a:t>
            </a:r>
            <a:r>
              <a:rPr lang="en-US" dirty="0"/>
              <a:t> delivers an end-to-end AI-powered fitness and wellness platform that transforms wearable health data into meaningful insights, helping users understand their health trends and adopt healthier lifestyles through personalized recommendations.</a:t>
            </a: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Technology Used</a:t>
            </a:r>
            <a:endParaRPr sz="24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708414" y="1059524"/>
            <a:ext cx="10515600" cy="5893881"/>
          </a:xfrm>
          <a:prstGeom prst="rect">
            <a:avLst/>
          </a:prstGeom>
          <a:noFill/>
          <a:ln>
            <a:noFill/>
          </a:ln>
        </p:spPr>
        <p:txBody>
          <a:bodyPr spcFirstLastPara="1" wrap="square" lIns="91425" tIns="45700" rIns="91425" bIns="45700" anchor="t" anchorCtr="0">
            <a:spAutoFit/>
          </a:bodyPr>
          <a:lstStyle/>
          <a:p>
            <a:r>
              <a:rPr lang="en-US" sz="1450" b="1" dirty="0"/>
              <a:t>React.js:</a:t>
            </a:r>
            <a:r>
              <a:rPr lang="en-US" sz="1450" dirty="0"/>
              <a:t> Developed a responsive and interactive user interface for uploading wearable health data, visualizing wellness metrics, and displaying AI-generated recommendations.</a:t>
            </a:r>
          </a:p>
          <a:p>
            <a:endParaRPr lang="en-US" sz="1450" dirty="0"/>
          </a:p>
          <a:p>
            <a:r>
              <a:rPr lang="en-US" sz="1450" b="1" dirty="0" err="1"/>
              <a:t>FastAPI</a:t>
            </a:r>
            <a:r>
              <a:rPr lang="en-US" sz="1450" b="1" dirty="0"/>
              <a:t>:</a:t>
            </a:r>
            <a:r>
              <a:rPr lang="en-US" sz="1450" dirty="0"/>
              <a:t> Built a high-performance REST API to process uploaded CSV files, calculate health metrics, and communicate with IBM watsonx.ai services.</a:t>
            </a:r>
          </a:p>
          <a:p>
            <a:endParaRPr lang="en-US" sz="1450" dirty="0"/>
          </a:p>
          <a:p>
            <a:r>
              <a:rPr lang="en-US" sz="1450" b="1" dirty="0"/>
              <a:t>IBM Granite 4.0-H-Small:</a:t>
            </a:r>
            <a:r>
              <a:rPr lang="en-US" sz="1450" dirty="0"/>
              <a:t> Used as the core Large Language Model (LLM) to analyze processed health data and generate personalized wellness recommendations, lifestyle guidance, and actionable health insights.</a:t>
            </a:r>
          </a:p>
          <a:p>
            <a:endParaRPr lang="en-US" sz="1450" dirty="0"/>
          </a:p>
          <a:p>
            <a:r>
              <a:rPr lang="en-US" sz="1450" b="1" dirty="0"/>
              <a:t>IBM watsonx.ai:</a:t>
            </a:r>
            <a:r>
              <a:rPr lang="en-US" sz="1450" dirty="0"/>
              <a:t> Provided secure access to IBM Granite models, enabling AI-powered reasoning and natural language generation for personalized wellness analysis.</a:t>
            </a:r>
          </a:p>
          <a:p>
            <a:endParaRPr lang="en-US" sz="1450" dirty="0"/>
          </a:p>
          <a:p>
            <a:r>
              <a:rPr lang="en-US" sz="1450" b="1" dirty="0"/>
              <a:t>IBM Cloud:</a:t>
            </a:r>
            <a:r>
              <a:rPr lang="en-US" sz="1450" dirty="0"/>
              <a:t> Served as the cloud platform hosting IBM watsonx.ai services, providing a secure, scalable, and enterprise-grade environment for AI model inference.</a:t>
            </a:r>
          </a:p>
          <a:p>
            <a:endParaRPr lang="en-US" sz="1450" dirty="0"/>
          </a:p>
          <a:p>
            <a:r>
              <a:rPr lang="en-US" sz="1450" b="1" dirty="0"/>
              <a:t>Python:</a:t>
            </a:r>
            <a:r>
              <a:rPr lang="en-US" sz="1450" dirty="0"/>
              <a:t> Implemented the backend logic, health data processing pipeline, CSV parsing, wellness score calculation, recovery score computation, and business logic.</a:t>
            </a:r>
          </a:p>
          <a:p>
            <a:endParaRPr lang="en-US" sz="1450" dirty="0"/>
          </a:p>
          <a:p>
            <a:r>
              <a:rPr lang="en-US" sz="1450" b="1" dirty="0"/>
              <a:t>Pandas:</a:t>
            </a:r>
            <a:r>
              <a:rPr lang="en-US" sz="1450" dirty="0"/>
              <a:t> Processed wearable health datasets, calculated averages, identified trends, and prepared structured health summaries for AI analysis.</a:t>
            </a:r>
          </a:p>
          <a:p>
            <a:endParaRPr lang="en-US" sz="1450" dirty="0"/>
          </a:p>
          <a:p>
            <a:r>
              <a:rPr lang="en-US" sz="1450" b="1" dirty="0"/>
              <a:t>Axios:</a:t>
            </a:r>
            <a:r>
              <a:rPr lang="en-US" sz="1450" dirty="0"/>
              <a:t> Enabled seamless communication between the React frontend and the </a:t>
            </a:r>
            <a:r>
              <a:rPr lang="en-US" sz="1450" dirty="0" err="1"/>
              <a:t>FastAPI</a:t>
            </a:r>
            <a:r>
              <a:rPr lang="en-US" sz="1450" dirty="0"/>
              <a:t> backend through REST API requests.</a:t>
            </a:r>
          </a:p>
          <a:p>
            <a:endParaRPr lang="en-US" sz="1450" dirty="0"/>
          </a:p>
          <a:p>
            <a:r>
              <a:rPr lang="en-US" sz="1450" b="1" dirty="0"/>
              <a:t>Render:</a:t>
            </a:r>
            <a:r>
              <a:rPr lang="en-US" sz="1450" dirty="0"/>
              <a:t> Deployed and hosted the </a:t>
            </a:r>
            <a:r>
              <a:rPr lang="en-US" sz="1450" dirty="0" err="1"/>
              <a:t>FastAPI</a:t>
            </a:r>
            <a:r>
              <a:rPr lang="en-US" sz="1450" dirty="0"/>
              <a:t> backend, making the AI services accessible over the internet.</a:t>
            </a:r>
          </a:p>
          <a:p>
            <a:endParaRPr lang="en-US" sz="1450" dirty="0"/>
          </a:p>
          <a:p>
            <a:r>
              <a:rPr lang="en-US" sz="1450" b="1" dirty="0" err="1"/>
              <a:t>Vercel</a:t>
            </a:r>
            <a:r>
              <a:rPr lang="en-US" sz="1450" b="1" dirty="0"/>
              <a:t>:</a:t>
            </a:r>
            <a:r>
              <a:rPr lang="en-US" sz="1450" dirty="0"/>
              <a:t> Deployed and hosted the React frontend, providing a fast, scalable, and publicly accessible web application.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t>System Components Used</a:t>
            </a:r>
            <a:r>
              <a:rPr lang="en-US" sz="2400" b="1" i="0" u="none" strike="noStrike" cap="none" dirty="0">
                <a:solidFill>
                  <a:srgbClr val="000000"/>
                </a:solidFill>
                <a:latin typeface="Arial"/>
                <a:ea typeface="Arial"/>
                <a:cs typeface="Arial"/>
                <a:sym typeface="Arial"/>
              </a:rPr>
              <a:t>-</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60" cy="46166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r>
              <a:rPr lang="en-US" b="1" dirty="0"/>
              <a:t>1) CSV Upload Component</a:t>
            </a:r>
            <a:r>
              <a:rPr lang="en-US" dirty="0"/>
              <a:t> – Allows users to upload wearable health data in CSV format (Apple Health, Fitbit, Garmin, Samsung Health, etc.) for analysis.</a:t>
            </a:r>
          </a:p>
          <a:p>
            <a:r>
              <a:rPr lang="en-US" b="1" dirty="0"/>
              <a:t>2) Health Data Analysis Engine</a:t>
            </a:r>
            <a:r>
              <a:rPr lang="en-US" dirty="0"/>
              <a:t> – Processes the uploaded health data, calculates key metrics such as Wellness Score, Recovery Score, average sleep duration, resting heart rate, HRV, and daily step count, and identifies health trends.</a:t>
            </a:r>
          </a:p>
          <a:p>
            <a:r>
              <a:rPr lang="en-US" b="1" dirty="0"/>
              <a:t>3) IBM watsonx.ai Agent</a:t>
            </a:r>
            <a:r>
              <a:rPr lang="en-US" dirty="0"/>
              <a:t> – Sends the processed health summary to </a:t>
            </a:r>
            <a:r>
              <a:rPr lang="en-US" b="1" dirty="0"/>
              <a:t>IBM watsonx.ai</a:t>
            </a:r>
            <a:r>
              <a:rPr lang="en-US" dirty="0"/>
              <a:t>, where the IBM Granite model analyzes the data and generates personalized wellness recommendations.</a:t>
            </a:r>
          </a:p>
          <a:p>
            <a:r>
              <a:rPr lang="en-US" b="1" dirty="0"/>
              <a:t>4) IBM Granite Model</a:t>
            </a:r>
            <a:r>
              <a:rPr lang="en-US" dirty="0"/>
              <a:t> – </a:t>
            </a:r>
            <a:r>
              <a:rPr lang="en-US" b="1" dirty="0"/>
              <a:t>Granite-4.0-H-Small</a:t>
            </a:r>
            <a:r>
              <a:rPr lang="en-US" dirty="0"/>
              <a:t> </a:t>
            </a:r>
            <a:r>
              <a:rPr lang="en-US" i="1" dirty="0"/>
              <a:t>(or replace this with the exact Granite model you used)</a:t>
            </a:r>
            <a:r>
              <a:rPr lang="en-US" dirty="0"/>
              <a:t>. Used for natural language reasoning, health insight generation, and personalized wellness recommendations.</a:t>
            </a:r>
          </a:p>
          <a:p>
            <a:r>
              <a:rPr lang="en-US" b="1" dirty="0"/>
              <a:t>5) AI Response Component</a:t>
            </a:r>
            <a:r>
              <a:rPr lang="en-US" dirty="0"/>
              <a:t> – Displays AI-generated wellness insights, recovery suggestions, sleep recommendations, heart health observations, and healthy lifestyle guidance.</a:t>
            </a:r>
          </a:p>
          <a:p>
            <a:r>
              <a:rPr lang="en-US" b="1" dirty="0"/>
              <a:t>6) Interactive Dashboard</a:t>
            </a:r>
            <a:r>
              <a:rPr lang="en-US" dirty="0"/>
              <a:t> – Built using React to visualize Wellness Score, Recovery Score, health metrics, trend analysis, and AI-generated recommendations in a user-friendly interface.</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0DC53B60-00C2-5167-0190-396576A9528E}"/>
              </a:ext>
            </a:extLst>
          </p:cNvPr>
          <p:cNvPicPr>
            <a:picLocks noChangeAspect="1"/>
          </p:cNvPicPr>
          <p:nvPr/>
        </p:nvPicPr>
        <p:blipFill>
          <a:blip r:embed="rId3"/>
          <a:stretch>
            <a:fillRect/>
          </a:stretch>
        </p:blipFill>
        <p:spPr>
          <a:xfrm>
            <a:off x="0" y="91440"/>
            <a:ext cx="12192000" cy="66243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254000"/>
            <a:ext cx="5908929" cy="51774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6C272591-7FB6-62DB-C799-56524B82A9F5}"/>
              </a:ext>
            </a:extLst>
          </p:cNvPr>
          <p:cNvPicPr>
            <a:picLocks noChangeAspect="1"/>
          </p:cNvPicPr>
          <p:nvPr/>
        </p:nvPicPr>
        <p:blipFill>
          <a:blip r:embed="rId3"/>
          <a:stretch>
            <a:fillRect/>
          </a:stretch>
        </p:blipFill>
        <p:spPr>
          <a:xfrm>
            <a:off x="0" y="254000"/>
            <a:ext cx="12192000" cy="64820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5509160"/>
          </a:xfrm>
          <a:prstGeom prst="rect">
            <a:avLst/>
          </a:prstGeom>
          <a:noFill/>
          <a:ln>
            <a:noFill/>
          </a:ln>
        </p:spPr>
        <p:txBody>
          <a:bodyPr spcFirstLastPara="1" wrap="square" lIns="91425" tIns="45700" rIns="91425" bIns="45700" anchor="t" anchorCtr="0">
            <a:spAutoFit/>
          </a:bodyPr>
          <a:lstStyle/>
          <a:p>
            <a:r>
              <a:rPr lang="en-US" sz="1600" b="1" dirty="0"/>
              <a:t>Role of IBM Granite AI in </a:t>
            </a:r>
            <a:r>
              <a:rPr lang="en-US" sz="1600" b="1" dirty="0" err="1"/>
              <a:t>VitalMind</a:t>
            </a:r>
            <a:r>
              <a:rPr lang="en-US" sz="1600" b="1" dirty="0"/>
              <a:t> AI</a:t>
            </a:r>
          </a:p>
          <a:p>
            <a:r>
              <a:rPr lang="en-US" sz="1600" dirty="0"/>
              <a:t>IBM Granite serves as the intelligent decision-making engine of </a:t>
            </a:r>
            <a:r>
              <a:rPr lang="en-US" sz="1600" b="1" dirty="0" err="1"/>
              <a:t>VitalMind</a:t>
            </a:r>
            <a:r>
              <a:rPr lang="en-US" sz="1600" b="1" dirty="0"/>
              <a:t> AI</a:t>
            </a:r>
            <a:r>
              <a:rPr lang="en-US" sz="1600" dirty="0"/>
              <a:t>, transforming processed wearable health data into meaningful and personalized wellness recommendations. Rather than simply displaying raw health metrics, the Granite model interprets the analyzed data and provides easy-to-understand guidance that helps users improve their daily lifestyle and overall well-being.</a:t>
            </a:r>
          </a:p>
          <a:p>
            <a:r>
              <a:rPr lang="en-US" sz="1600" dirty="0"/>
              <a:t>The </a:t>
            </a:r>
            <a:r>
              <a:rPr lang="en-US" sz="1600" dirty="0" err="1"/>
              <a:t>FastAPI</a:t>
            </a:r>
            <a:r>
              <a:rPr lang="en-US" sz="1600" dirty="0"/>
              <a:t> backend first processes the uploaded wearable health data by calculating important wellness indicators such as </a:t>
            </a:r>
            <a:r>
              <a:rPr lang="en-US" sz="1600" b="1" dirty="0"/>
              <a:t>Wellness Score</a:t>
            </a:r>
            <a:r>
              <a:rPr lang="en-US" sz="1600" dirty="0"/>
              <a:t>, </a:t>
            </a:r>
            <a:r>
              <a:rPr lang="en-US" sz="1600" b="1" dirty="0"/>
              <a:t>Recovery Score</a:t>
            </a:r>
            <a:r>
              <a:rPr lang="en-US" sz="1600" dirty="0"/>
              <a:t>, sleep duration, heart rate, heart rate variability (HRV), and daily step count. This structured health summary is then securely sent to </a:t>
            </a:r>
            <a:r>
              <a:rPr lang="en-US" sz="1600" b="1" dirty="0"/>
              <a:t>IBM watsonx.ai</a:t>
            </a:r>
            <a:r>
              <a:rPr lang="en-US" sz="1600" dirty="0"/>
              <a:t>, where the </a:t>
            </a:r>
            <a:r>
              <a:rPr lang="en-US" sz="1600" b="1" dirty="0"/>
              <a:t>IBM Granite</a:t>
            </a:r>
            <a:r>
              <a:rPr lang="en-US" sz="1600" dirty="0"/>
              <a:t> model performs natural language reasoning to understand the user's health patterns and generate personalized recommendations.</a:t>
            </a:r>
          </a:p>
          <a:p>
            <a:r>
              <a:rPr lang="en-US" sz="1600" dirty="0"/>
              <a:t>IBM Granite also provides </a:t>
            </a:r>
            <a:r>
              <a:rPr lang="en-US" sz="1600" b="1" dirty="0"/>
              <a:t>context-aware wellness guidance</a:t>
            </a:r>
            <a:r>
              <a:rPr lang="en-US" sz="1600" dirty="0"/>
              <a:t> by considering the user's overall health trends instead of individual metrics alone. It identifies areas that require improvement and suggests practical actions such as improving sleep habits, increasing physical activity, managing stress, and maintaining a balanced lifestyle.</a:t>
            </a:r>
          </a:p>
          <a:p>
            <a:r>
              <a:rPr lang="en-US" sz="1600" dirty="0"/>
              <a:t>Overall, IBM Granite transforms complex wearable health data into </a:t>
            </a:r>
            <a:r>
              <a:rPr lang="en-US" sz="1600" b="1" dirty="0"/>
              <a:t>clear, personalized, and actionable wellness insights</a:t>
            </a:r>
            <a:r>
              <a:rPr lang="en-US" sz="1600" dirty="0"/>
              <a:t>, making </a:t>
            </a:r>
            <a:r>
              <a:rPr lang="en-US" sz="1600" dirty="0" err="1"/>
              <a:t>VitalMind</a:t>
            </a:r>
            <a:r>
              <a:rPr lang="en-US" sz="1600" dirty="0"/>
              <a:t> AI an intelligent fitness and wellness companion rather than a traditional health dashboard.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777240" y="1207008"/>
            <a:ext cx="11301984" cy="5293716"/>
          </a:xfrm>
          <a:prstGeom prst="rect">
            <a:avLst/>
          </a:prstGeom>
          <a:noFill/>
          <a:ln>
            <a:noFill/>
          </a:ln>
        </p:spPr>
        <p:txBody>
          <a:bodyPr spcFirstLastPara="1" wrap="square" lIns="91425" tIns="45700" rIns="91425" bIns="45700" anchor="t" anchorCtr="0">
            <a:spAutoFit/>
          </a:bodyPr>
          <a:lstStyle/>
          <a:p>
            <a:r>
              <a:rPr lang="en-US" sz="1800" dirty="0"/>
              <a:t>The proposed </a:t>
            </a:r>
            <a:r>
              <a:rPr lang="en-US" sz="1800" b="1" dirty="0" err="1"/>
              <a:t>VitalMind</a:t>
            </a:r>
            <a:r>
              <a:rPr lang="en-US" sz="1800" b="1" dirty="0"/>
              <a:t> AI</a:t>
            </a:r>
            <a:r>
              <a:rPr lang="en-US" sz="1800" dirty="0"/>
              <a:t> stands out by combining </a:t>
            </a:r>
            <a:r>
              <a:rPr lang="en-US" sz="1800" b="1" dirty="0"/>
              <a:t>wearable health analytics</a:t>
            </a:r>
            <a:r>
              <a:rPr lang="en-US" sz="1800" dirty="0"/>
              <a:t>, </a:t>
            </a:r>
            <a:r>
              <a:rPr lang="en-US" sz="1800" b="1" dirty="0"/>
              <a:t>AI-powered wellness recommendations</a:t>
            </a:r>
            <a:r>
              <a:rPr lang="en-US" sz="1800" dirty="0"/>
              <a:t>, and </a:t>
            </a:r>
            <a:r>
              <a:rPr lang="en-US" sz="1800" b="1" dirty="0"/>
              <a:t>IBM Granite</a:t>
            </a:r>
            <a:r>
              <a:rPr lang="en-US" sz="1800" dirty="0"/>
              <a:t> into a single intelligent fitness and wellness platform.</a:t>
            </a:r>
          </a:p>
          <a:p>
            <a:r>
              <a:rPr lang="en-US" sz="1800" b="1" dirty="0"/>
              <a:t>Wearable Health Data Analysis</a:t>
            </a:r>
            <a:r>
              <a:rPr lang="en-US" sz="1800" dirty="0"/>
              <a:t> – Instead of relying only on user conversations, the system analyzes real smartwatch health data, including sleep duration, heart rate, HRV, and daily step count, to provide evidence-based wellness insights. </a:t>
            </a:r>
          </a:p>
          <a:p>
            <a:r>
              <a:rPr lang="en-US" sz="1800" b="1" dirty="0"/>
              <a:t>AI-Powered Personalized Recommendations</a:t>
            </a:r>
            <a:r>
              <a:rPr lang="en-US" sz="1800" dirty="0"/>
              <a:t> – Utilizes </a:t>
            </a:r>
            <a:r>
              <a:rPr lang="en-US" sz="1800" b="1" dirty="0"/>
              <a:t>IBM Granite</a:t>
            </a:r>
            <a:r>
              <a:rPr lang="en-US" sz="1800" dirty="0"/>
              <a:t> on </a:t>
            </a:r>
            <a:r>
              <a:rPr lang="en-US" sz="1800" b="1" dirty="0"/>
              <a:t>IBM watsonx.ai</a:t>
            </a:r>
            <a:r>
              <a:rPr lang="en-US" sz="1800" dirty="0"/>
              <a:t> to generate personalized lifestyle and wellness recommendations based on each user's health metrics and trends. </a:t>
            </a:r>
          </a:p>
          <a:p>
            <a:r>
              <a:rPr lang="en-US" sz="1800" b="1" dirty="0"/>
              <a:t>Comprehensive Wellness Assessment</a:t>
            </a:r>
            <a:r>
              <a:rPr lang="en-US" sz="1800" dirty="0"/>
              <a:t> – Calculates </a:t>
            </a:r>
            <a:r>
              <a:rPr lang="en-US" sz="1800" b="1" dirty="0"/>
              <a:t>Wellness Score</a:t>
            </a:r>
            <a:r>
              <a:rPr lang="en-US" sz="1800" dirty="0"/>
              <a:t> and </a:t>
            </a:r>
            <a:r>
              <a:rPr lang="en-US" sz="1800" b="1" dirty="0"/>
              <a:t>Recovery Score</a:t>
            </a:r>
            <a:r>
              <a:rPr lang="en-US" sz="1800" dirty="0"/>
              <a:t>, enabling users to easily understand their overall health condition through simplified indicators. </a:t>
            </a:r>
          </a:p>
          <a:p>
            <a:r>
              <a:rPr lang="en-US" sz="1800" b="1" dirty="0"/>
              <a:t>Health Trend Identification</a:t>
            </a:r>
            <a:r>
              <a:rPr lang="en-US" sz="1800" dirty="0"/>
              <a:t> – Detects changes in sleep quality, heart rate, HRV, and physical activity, helping users recognize long-term patterns and build healthier habits. </a:t>
            </a:r>
          </a:p>
          <a:p>
            <a:r>
              <a:rPr lang="en-US" sz="1800" b="1" dirty="0"/>
              <a:t>Interactive &amp; User-Friendly Dashboard</a:t>
            </a:r>
            <a:r>
              <a:rPr lang="en-US" sz="1800" dirty="0"/>
              <a:t> – Presents health metrics, trend analysis, and AI-generated recommendations through an intuitive React-based dashboard, making complex health information easy to understand. </a:t>
            </a:r>
          </a:p>
          <a:p>
            <a:r>
              <a:rPr lang="en-US" sz="1800" b="1" dirty="0"/>
              <a:t>Preventive Wellness Focus</a:t>
            </a:r>
            <a:r>
              <a:rPr lang="en-US" sz="1800" dirty="0"/>
              <a:t> – Encourages proactive health management by providing actionable wellness guidance rather than medical diagnosis, promoting healthier daily lifestyles. </a:t>
            </a:r>
          </a:p>
          <a:p>
            <a:r>
              <a:rPr lang="en-US" sz="1800" b="1" dirty="0"/>
              <a:t>Scalable Cloud-Based Architecture</a:t>
            </a:r>
            <a:r>
              <a:rPr lang="en-US" sz="1800" dirty="0"/>
              <a:t> – Built using </a:t>
            </a:r>
            <a:r>
              <a:rPr lang="en-US" sz="1800" b="1" dirty="0"/>
              <a:t>React</a:t>
            </a:r>
            <a:r>
              <a:rPr lang="en-US" sz="1800" dirty="0"/>
              <a:t>, </a:t>
            </a:r>
            <a:r>
              <a:rPr lang="en-US" sz="1800" b="1" dirty="0" err="1"/>
              <a:t>FastAPI</a:t>
            </a:r>
            <a:r>
              <a:rPr lang="en-US" sz="1800" dirty="0"/>
              <a:t>, </a:t>
            </a:r>
            <a:r>
              <a:rPr lang="en-US" sz="1800" b="1" dirty="0"/>
              <a:t>IBM watsonx.ai</a:t>
            </a:r>
            <a:r>
              <a:rPr lang="en-US" sz="1800" dirty="0"/>
              <a:t>, and </a:t>
            </a:r>
            <a:r>
              <a:rPr lang="en-US" sz="1800" b="1" dirty="0"/>
              <a:t>IBM Granite</a:t>
            </a:r>
            <a:r>
              <a:rPr lang="en-US" sz="1800" dirty="0"/>
              <a:t>, enabling secure, scalable, and cloud-ready deployment.</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https://github.com/suryendudas/VitalMind-AI</a:t>
            </a:r>
            <a:endParaRPr lang="en-US" sz="1850" dirty="0">
              <a:solidFill>
                <a:srgbClr val="2B3541"/>
              </a:solidFill>
              <a:latin typeface="Times New Roman"/>
              <a:ea typeface="Times New Roman"/>
              <a:cs typeface="Times New Roman"/>
              <a:sym typeface="Times New Roman"/>
            </a:endParaRPr>
          </a:p>
          <a:p>
            <a:endParaRPr lang="en-US" sz="2000" b="1" dirty="0"/>
          </a:p>
          <a:p>
            <a:r>
              <a:rPr lang="en-US" sz="2000" b="1" dirty="0"/>
              <a:t>Live Demo</a:t>
            </a:r>
          </a:p>
          <a:p>
            <a:endParaRPr lang="en-US" sz="2000" dirty="0"/>
          </a:p>
          <a:p>
            <a:r>
              <a:rPr lang="en-US" sz="2000" dirty="0">
                <a:hlinkClick r:id="rId4"/>
              </a:rPr>
              <a:t>https://vital-mind-ai.vercel.app</a:t>
            </a:r>
            <a:endParaRPr lang="en-US" sz="2000" dirty="0"/>
          </a:p>
          <a:p>
            <a:endParaRPr lang="en-US" sz="2000" b="1" dirty="0"/>
          </a:p>
          <a:p>
            <a:r>
              <a:rPr lang="en-US" sz="2000" b="1" dirty="0"/>
              <a:t>Backend API</a:t>
            </a:r>
          </a:p>
          <a:p>
            <a:endParaRPr lang="en-US" sz="2000" dirty="0"/>
          </a:p>
          <a:p>
            <a:r>
              <a:rPr lang="en-US" sz="2000" dirty="0"/>
              <a:t>https://vitalmind-ai-z6g2.onrender.com/docs</a:t>
            </a: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99747" y="20267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114552" y="1019111"/>
            <a:ext cx="9214580" cy="4277001"/>
          </a:xfrm>
          <a:prstGeom prst="rect">
            <a:avLst/>
          </a:prstGeom>
          <a:noFill/>
          <a:ln>
            <a:noFill/>
          </a:ln>
        </p:spPr>
        <p:txBody>
          <a:bodyPr spcFirstLastPara="1" wrap="square" lIns="0" tIns="0" rIns="0" bIns="0" anchor="t" anchorCtr="0">
            <a:noAutofit/>
          </a:bodyPr>
          <a:lstStyle/>
          <a:p>
            <a:r>
              <a:rPr lang="en-US" sz="1550" b="1" dirty="0"/>
              <a:t>1. Real-Time Wearable Integration</a:t>
            </a:r>
          </a:p>
          <a:p>
            <a:r>
              <a:rPr lang="en-US" sz="1550" dirty="0"/>
              <a:t>Integrate </a:t>
            </a:r>
            <a:r>
              <a:rPr lang="en-US" sz="1550" b="1" dirty="0"/>
              <a:t>Apple Health, Google Fit, Fitbit, Garmin, and Samsung Health</a:t>
            </a:r>
            <a:r>
              <a:rPr lang="en-US" sz="1550" dirty="0"/>
              <a:t> to automatically synchronize health metrics in real time, eliminating the need for manual CSV uploads.</a:t>
            </a:r>
          </a:p>
          <a:p>
            <a:r>
              <a:rPr lang="en-US" sz="1550" b="1" dirty="0"/>
              <a:t>2. AI Fitness Coaching &amp; Personalized Workout Plans</a:t>
            </a:r>
          </a:p>
          <a:p>
            <a:r>
              <a:rPr lang="en-US" sz="1550" dirty="0"/>
              <a:t>Enhance </a:t>
            </a:r>
            <a:r>
              <a:rPr lang="en-US" sz="1550" dirty="0" err="1"/>
              <a:t>VitalMind</a:t>
            </a:r>
            <a:r>
              <a:rPr lang="en-US" sz="1550" dirty="0"/>
              <a:t> AI with personalized workout recommendations, daily fitness challenges, motivational coaching, and adaptive exercise plans based on each user's health trends and fitness goals.</a:t>
            </a:r>
          </a:p>
          <a:p>
            <a:r>
              <a:rPr lang="en-US" sz="1550" b="1" dirty="0"/>
              <a:t>3. Nutrition &amp; Hydration Guidance</a:t>
            </a:r>
          </a:p>
          <a:p>
            <a:r>
              <a:rPr lang="en-US" sz="1550" dirty="0"/>
              <a:t>Expand the platform to provide personalized meal suggestions, hydration reminders, calorie tracking, and healthy eating recommendations based on users' activity levels and wellness objectives.</a:t>
            </a:r>
          </a:p>
          <a:p>
            <a:r>
              <a:rPr lang="en-US" sz="1550" b="1" dirty="0"/>
              <a:t>4. Mobile Application</a:t>
            </a:r>
          </a:p>
          <a:p>
            <a:r>
              <a:rPr lang="en-US" sz="1550" dirty="0"/>
              <a:t>Develop native </a:t>
            </a:r>
            <a:r>
              <a:rPr lang="en-US" sz="1550" b="1" dirty="0"/>
              <a:t>Android and iOS applications</a:t>
            </a:r>
            <a:r>
              <a:rPr lang="en-US" sz="1550" dirty="0"/>
              <a:t> with real-time notifications, wearable synchronization, and offline health tracking to improve accessibility and user engagement.</a:t>
            </a:r>
          </a:p>
          <a:p>
            <a:r>
              <a:rPr lang="en-US" sz="1550" b="1" dirty="0"/>
              <a:t>5. Predictive Health Analytics</a:t>
            </a:r>
          </a:p>
          <a:p>
            <a:r>
              <a:rPr lang="en-US" sz="1550" dirty="0"/>
              <a:t>Leverage historical wearable health data and AI models to identify long-term health trends, detect potential wellness risks, and provide proactive lifestyle recommendations before health issues develop.</a:t>
            </a:r>
          </a:p>
          <a:p>
            <a:r>
              <a:rPr lang="en-US" sz="1550" b="1" dirty="0"/>
              <a:t>6. Multi-Language Support</a:t>
            </a:r>
          </a:p>
          <a:p>
            <a:r>
              <a:rPr lang="en-US" sz="1550" dirty="0"/>
              <a:t>Support multiple regional and international languages to make the platform accessible to a broader and more diverse user base.</a:t>
            </a:r>
          </a:p>
          <a:p>
            <a:r>
              <a:rPr lang="en-US" sz="1550" b="1" dirty="0"/>
              <a:t>7. Healthcare Professional Dashboard</a:t>
            </a:r>
          </a:p>
          <a:p>
            <a:r>
              <a:rPr lang="en-US" sz="1550" dirty="0"/>
              <a:t>Introduce a secure dashboard for doctors, fitness trainers, and wellness coaches to monitor user progress, review health insights, and provide personalized guidance remotely.</a:t>
            </a:r>
          </a:p>
          <a:p>
            <a:r>
              <a:rPr lang="en-US" sz="1550" b="1" dirty="0"/>
              <a:t>8. Enterprise &amp; Corporate Wellness</a:t>
            </a:r>
          </a:p>
          <a:p>
            <a:r>
              <a:rPr lang="en-US" sz="1550" dirty="0"/>
              <a:t>Scale the platform for organizations by providing employee wellness analytics, health reports, and AI-driven fitness programs to promote healthier workplaces.</a:t>
            </a: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Please  add your credly certificate </a:t>
            </a:r>
            <a:endParaRPr/>
          </a:p>
        </p:txBody>
      </p:sp>
      <p:pic>
        <p:nvPicPr>
          <p:cNvPr id="3" name="Picture 2">
            <a:extLst>
              <a:ext uri="{FF2B5EF4-FFF2-40B4-BE49-F238E27FC236}">
                <a16:creationId xmlns:a16="http://schemas.microsoft.com/office/drawing/2014/main" id="{2D2613E8-1147-AC1F-C433-48EDDC82753E}"/>
              </a:ext>
            </a:extLst>
          </p:cNvPr>
          <p:cNvPicPr>
            <a:picLocks noChangeAspect="1"/>
          </p:cNvPicPr>
          <p:nvPr/>
        </p:nvPicPr>
        <p:blipFill>
          <a:blip r:embed="rId3"/>
          <a:stretch>
            <a:fillRect/>
          </a:stretch>
        </p:blipFill>
        <p:spPr>
          <a:xfrm>
            <a:off x="711086" y="1367169"/>
            <a:ext cx="6939780" cy="4892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Add your IBM BOB Certificate</a:t>
            </a:r>
            <a:endParaRPr/>
          </a:p>
        </p:txBody>
      </p:sp>
      <p:pic>
        <p:nvPicPr>
          <p:cNvPr id="3" name="Picture 2">
            <a:extLst>
              <a:ext uri="{FF2B5EF4-FFF2-40B4-BE49-F238E27FC236}">
                <a16:creationId xmlns:a16="http://schemas.microsoft.com/office/drawing/2014/main" id="{FAE77FE0-91E5-C45F-694A-D3526D60EB0B}"/>
              </a:ext>
            </a:extLst>
          </p:cNvPr>
          <p:cNvPicPr>
            <a:picLocks noChangeAspect="1"/>
          </p:cNvPicPr>
          <p:nvPr/>
        </p:nvPicPr>
        <p:blipFill>
          <a:blip r:embed="rId3"/>
          <a:stretch>
            <a:fillRect/>
          </a:stretch>
        </p:blipFill>
        <p:spPr>
          <a:xfrm>
            <a:off x="701523" y="1477578"/>
            <a:ext cx="7787755" cy="47959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1885</Words>
  <Application>Microsoft Office PowerPoint</Application>
  <PresentationFormat>Widescreen</PresentationFormat>
  <Paragraphs>122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Suryendu Das</cp:lastModifiedBy>
  <cp:revision>2</cp:revision>
  <dcterms:created xsi:type="dcterms:W3CDTF">2025-07-08T05:06:56Z</dcterms:created>
  <dcterms:modified xsi:type="dcterms:W3CDTF">2026-07-10T20:37:04Z</dcterms:modified>
</cp:coreProperties>
</file>